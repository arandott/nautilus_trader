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638"/>
          </a:solidFill>
          <a:ln w="12700">
            <a:solidFill>
              <a:srgbClr val="0E26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638"/>
          </a:solidFill>
          <a:ln w="12700">
            <a:solidFill>
              <a:srgbClr val="0E263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38160" y="841248"/>
            <a:ext cx="1920240" cy="32004"/>
          </a:xfrm>
          <a:prstGeom prst="rect">
            <a:avLst/>
          </a:prstGeom>
          <a:solidFill>
            <a:srgbClr val="279C95">
              <a:alpha val="82000"/>
            </a:srgbClr>
          </a:solidFill>
          <a:ln w="12700">
            <a:solidFill>
              <a:srgbClr val="0E263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57616" y="1152144"/>
            <a:ext cx="2304288" cy="32004"/>
          </a:xfrm>
          <a:prstGeom prst="rect">
            <a:avLst/>
          </a:prstGeom>
          <a:solidFill>
            <a:srgbClr val="8DA4B4">
              <a:alpha val="38000"/>
            </a:srgbClr>
          </a:solidFill>
          <a:ln w="12700">
            <a:solidFill>
              <a:srgbClr val="0E263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7072" y="1463040"/>
            <a:ext cx="2688336" cy="32004"/>
          </a:xfrm>
          <a:prstGeom prst="rect">
            <a:avLst/>
          </a:prstGeom>
          <a:solidFill>
            <a:srgbClr val="8DA4B4">
              <a:alpha val="38000"/>
            </a:srgbClr>
          </a:solidFill>
          <a:ln w="12700">
            <a:solidFill>
              <a:srgbClr val="0E263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0" y="1773936"/>
            <a:ext cx="3072384" cy="32004"/>
          </a:xfrm>
          <a:prstGeom prst="rect">
            <a:avLst/>
          </a:prstGeom>
          <a:solidFill>
            <a:srgbClr val="8DA4B4">
              <a:alpha val="38000"/>
            </a:srgbClr>
          </a:solidFill>
          <a:ln w="12700">
            <a:solidFill>
              <a:srgbClr val="0E263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57616" y="2084832"/>
            <a:ext cx="3456432" cy="32004"/>
          </a:xfrm>
          <a:prstGeom prst="rect">
            <a:avLst/>
          </a:prstGeom>
          <a:solidFill>
            <a:srgbClr val="279C95">
              <a:alpha val="82000"/>
            </a:srgbClr>
          </a:solidFill>
          <a:ln w="12700">
            <a:solidFill>
              <a:srgbClr val="0E263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77072" y="2395728"/>
            <a:ext cx="1920240" cy="32004"/>
          </a:xfrm>
          <a:prstGeom prst="rect">
            <a:avLst/>
          </a:prstGeom>
          <a:solidFill>
            <a:srgbClr val="8DA4B4">
              <a:alpha val="38000"/>
            </a:srgbClr>
          </a:solidFill>
          <a:ln w="12700">
            <a:solidFill>
              <a:srgbClr val="0E263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38160" y="2706624"/>
            <a:ext cx="2304288" cy="32004"/>
          </a:xfrm>
          <a:prstGeom prst="rect">
            <a:avLst/>
          </a:prstGeom>
          <a:solidFill>
            <a:srgbClr val="8DA4B4">
              <a:alpha val="38000"/>
            </a:srgbClr>
          </a:solidFill>
          <a:ln w="12700">
            <a:solidFill>
              <a:srgbClr val="0E263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57616" y="3017520"/>
            <a:ext cx="2688336" cy="32004"/>
          </a:xfrm>
          <a:prstGeom prst="rect">
            <a:avLst/>
          </a:prstGeom>
          <a:solidFill>
            <a:srgbClr val="8DA4B4">
              <a:alpha val="38000"/>
            </a:srgbClr>
          </a:solidFill>
          <a:ln w="12700">
            <a:solidFill>
              <a:srgbClr val="0E263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77072" y="3328416"/>
            <a:ext cx="3072384" cy="32004"/>
          </a:xfrm>
          <a:prstGeom prst="rect">
            <a:avLst/>
          </a:prstGeom>
          <a:solidFill>
            <a:srgbClr val="279C95">
              <a:alpha val="82000"/>
            </a:srgbClr>
          </a:solidFill>
          <a:ln w="12700">
            <a:solidFill>
              <a:srgbClr val="0E263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3639312"/>
            <a:ext cx="3456432" cy="32004"/>
          </a:xfrm>
          <a:prstGeom prst="rect">
            <a:avLst/>
          </a:prstGeom>
          <a:solidFill>
            <a:srgbClr val="8DA4B4">
              <a:alpha val="38000"/>
            </a:srgbClr>
          </a:solidFill>
          <a:ln w="12700">
            <a:solidFill>
              <a:srgbClr val="0E263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57616" y="3950208"/>
            <a:ext cx="1920240" cy="32004"/>
          </a:xfrm>
          <a:prstGeom prst="rect">
            <a:avLst/>
          </a:prstGeom>
          <a:solidFill>
            <a:srgbClr val="8DA4B4">
              <a:alpha val="38000"/>
            </a:srgbClr>
          </a:solidFill>
          <a:ln w="12700">
            <a:solidFill>
              <a:srgbClr val="0E263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77072" y="4261104"/>
            <a:ext cx="2304288" cy="32004"/>
          </a:xfrm>
          <a:prstGeom prst="rect">
            <a:avLst/>
          </a:prstGeom>
          <a:solidFill>
            <a:srgbClr val="8DA4B4">
              <a:alpha val="38000"/>
            </a:srgbClr>
          </a:solidFill>
          <a:ln w="12700">
            <a:solidFill>
              <a:srgbClr val="0E263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38160" y="4572000"/>
            <a:ext cx="2688336" cy="32004"/>
          </a:xfrm>
          <a:prstGeom prst="rect">
            <a:avLst/>
          </a:prstGeom>
          <a:solidFill>
            <a:srgbClr val="279C95">
              <a:alpha val="82000"/>
            </a:srgbClr>
          </a:solidFill>
          <a:ln w="12700">
            <a:solidFill>
              <a:srgbClr val="0E263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57616" y="4882896"/>
            <a:ext cx="3072384" cy="32004"/>
          </a:xfrm>
          <a:prstGeom prst="rect">
            <a:avLst/>
          </a:prstGeom>
          <a:solidFill>
            <a:srgbClr val="8DA4B4">
              <a:alpha val="38000"/>
            </a:srgbClr>
          </a:solidFill>
          <a:ln w="12700">
            <a:solidFill>
              <a:srgbClr val="0E263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77072" y="5193792"/>
            <a:ext cx="3456432" cy="32004"/>
          </a:xfrm>
          <a:prstGeom prst="rect">
            <a:avLst/>
          </a:prstGeom>
          <a:solidFill>
            <a:srgbClr val="8DA4B4">
              <a:alpha val="38000"/>
            </a:srgbClr>
          </a:solidFill>
          <a:ln w="12700">
            <a:solidFill>
              <a:srgbClr val="0E263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1248" y="932688"/>
            <a:ext cx="0" cy="1225296"/>
          </a:xfrm>
          <a:prstGeom prst="line">
            <a:avLst/>
          </a:prstGeom>
          <a:noFill/>
          <a:ln w="38100">
            <a:solidFill>
              <a:srgbClr val="279C9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877824"/>
            <a:ext cx="67665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面向低延迟场景的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 本地订单簿优化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1097280" y="248716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BD4C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 Specialized Local Order Book for Low-Latency Workloads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97280" y="5010912"/>
            <a:ext cx="4937760" cy="0"/>
          </a:xfrm>
          <a:prstGeom prst="line">
            <a:avLst/>
          </a:prstGeom>
          <a:noFill/>
          <a:ln w="10160">
            <a:solidFill>
              <a:srgbClr val="31566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7280" y="52303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DCE7E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陈宝文  |  中央财经大学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97280" y="55961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DB1B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2026 年 5 月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235440" y="5669280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9DB1B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FINAL DEFENSE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EE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3"/>
          </a:solidFill>
          <a:ln w="12700">
            <a:solidFill>
              <a:srgbClr val="E8EEF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1298448" y="466344"/>
            <a:ext cx="603504" cy="0"/>
          </a:xfrm>
          <a:prstGeom prst="line">
            <a:avLst/>
          </a:prstGeom>
          <a:noFill/>
          <a:ln w="13970">
            <a:solidFill>
              <a:srgbClr val="279C9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713232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研究问题：L2 本地订单簿为什么值得专门优化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76656" y="122529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真正反复消耗时间的是本地状态维护、top-k 查询和大规模 replay，而不只是解析单条消息。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6437376"/>
            <a:ext cx="10881360" cy="0"/>
          </a:xfrm>
          <a:prstGeom prst="line">
            <a:avLst/>
          </a:prstGeom>
          <a:noFill/>
          <a:ln w="7620">
            <a:solidFill>
              <a:srgbClr val="B9CB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6537960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 Specialized Order Book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11027664" y="6501384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914400" y="2057400"/>
            <a:ext cx="2148840" cy="1005840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057400"/>
            <a:ext cx="2148840" cy="91440"/>
          </a:xfrm>
          <a:prstGeom prst="rect">
            <a:avLst/>
          </a:prstGeom>
          <a:solidFill>
            <a:srgbClr val="477CA2"/>
          </a:solidFill>
          <a:ln w="12700">
            <a:solidFill>
              <a:srgbClr val="477CA2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27685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高频 L2 Delta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97280" y="262432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原始行情持续冲击价格档位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3730752" y="2057400"/>
            <a:ext cx="2148840" cy="1005840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30752" y="2057400"/>
            <a:ext cx="2148840" cy="91440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13632" y="227685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Local Book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13632" y="262432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本地维护 bid / ask 状态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6547104" y="2057400"/>
            <a:ext cx="2148840" cy="1005840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47104" y="2057400"/>
            <a:ext cx="2148840" cy="91440"/>
          </a:xfrm>
          <a:prstGeom prst="rect">
            <a:avLst/>
          </a:prstGeom>
          <a:solidFill>
            <a:srgbClr val="477CA2"/>
          </a:solidFill>
          <a:ln w="12700">
            <a:solidFill>
              <a:srgbClr val="477CA2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9984" y="227685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Query / Feature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29984" y="262432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best、top-k、深度因子反复读取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9363456" y="2057400"/>
            <a:ext cx="1828800" cy="1005840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63456" y="2057400"/>
            <a:ext cx="1828800" cy="91440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46336" y="22768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Replay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546336" y="2624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回测与离线验证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3127248" y="2560320"/>
            <a:ext cx="493776" cy="0"/>
          </a:xfrm>
          <a:prstGeom prst="line">
            <a:avLst/>
          </a:prstGeom>
          <a:noFill/>
          <a:ln w="15240">
            <a:solidFill>
              <a:srgbClr val="B9CBD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943600" y="2560320"/>
            <a:ext cx="493776" cy="0"/>
          </a:xfrm>
          <a:prstGeom prst="line">
            <a:avLst/>
          </a:prstGeom>
          <a:noFill/>
          <a:ln w="15240">
            <a:solidFill>
              <a:srgbClr val="B9CBD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759952" y="2560320"/>
            <a:ext cx="493776" cy="0"/>
          </a:xfrm>
          <a:prstGeom prst="line">
            <a:avLst/>
          </a:prstGeom>
          <a:noFill/>
          <a:ln w="15240">
            <a:solidFill>
              <a:srgbClr val="B9CBD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14400" y="3950208"/>
            <a:ext cx="4572000" cy="1078992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07008" y="418795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MOTIVATION</a:t>
            </a:r>
            <a:endParaRPr lang="en-US" sz="740" dirty="0"/>
          </a:p>
        </p:txBody>
      </p:sp>
      <p:sp>
        <p:nvSpPr>
          <p:cNvPr id="31" name="Text 29"/>
          <p:cNvSpPr/>
          <p:nvPr/>
        </p:nvSpPr>
        <p:spPr>
          <a:xfrm>
            <a:off x="1207008" y="446227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 语义更窄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07008" y="4681728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L2_MBP 只需要 price -&gt; size 的聚合档位；通用订单簿路径仍保留 order-level 抽象。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6693408" y="3950208"/>
            <a:ext cx="3977640" cy="1078992"/>
          </a:xfrm>
          <a:prstGeom prst="rect">
            <a:avLst/>
          </a:prstGeom>
          <a:solidFill>
            <a:srgbClr val="DDE8EF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86016" y="418795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77CA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QUESTION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6986016" y="446227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能否消掉不必要的常数项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986016" y="46817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目标不是推翻 baseline，而是在相同输入与接口下验证 L2 专用结构的工程边界。</a:t>
            </a:r>
            <a:endParaRPr lang="en-US" sz="9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E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3"/>
          </a:solidFill>
          <a:ln w="12700">
            <a:solidFill>
              <a:srgbClr val="E8EEF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1298448" y="466344"/>
            <a:ext cx="603504" cy="0"/>
          </a:xfrm>
          <a:prstGeom prst="line">
            <a:avLst/>
          </a:prstGeom>
          <a:noFill/>
          <a:ln w="13970">
            <a:solidFill>
              <a:srgbClr val="279C9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713232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Baseline Overhead：通用订单簿的成本来源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76656" y="122529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baseline 的价值是统一 L1/L2/L3 语义；L2 场景的优化空间来自可消除的订单级常数项。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6437376"/>
            <a:ext cx="10881360" cy="0"/>
          </a:xfrm>
          <a:prstGeom prst="line">
            <a:avLst/>
          </a:prstGeom>
          <a:noFill/>
          <a:ln w="7620">
            <a:solidFill>
              <a:srgbClr val="B9CB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6537960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 Specialized Order Book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11027664" y="6501384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77824" y="1901952"/>
            <a:ext cx="5715000" cy="340156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70432" y="21762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native OrderBook(BookType::L2_MBP)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188720" y="2743200"/>
            <a:ext cx="4535424" cy="329184"/>
          </a:xfrm>
          <a:prstGeom prst="rect">
            <a:avLst/>
          </a:prstGeom>
          <a:solidFill>
            <a:srgbClr val="DDE8EF"/>
          </a:solidFill>
          <a:ln w="6350">
            <a:solidFill>
              <a:srgbClr val="B9CB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9888" y="2816352"/>
            <a:ext cx="1883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477CA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BookLadder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3611880" y="2816352"/>
            <a:ext cx="1874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每侧一棵有序价格树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188720" y="3246120"/>
            <a:ext cx="4535424" cy="329184"/>
          </a:xfrm>
          <a:prstGeom prst="rect">
            <a:avLst/>
          </a:prstGeom>
          <a:solidFill>
            <a:srgbClr val="DDE8EF"/>
          </a:solidFill>
          <a:ln w="6350">
            <a:solidFill>
              <a:srgbClr val="B9CB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89888" y="3319272"/>
            <a:ext cx="1883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477CA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BTreeMap&lt;BookPrice, BookLevel&gt;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3611880" y="3319272"/>
            <a:ext cx="1874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定位 price level：O(log L)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1188720" y="3749040"/>
            <a:ext cx="4535424" cy="329184"/>
          </a:xfrm>
          <a:prstGeom prst="rect">
            <a:avLst/>
          </a:prstGeom>
          <a:solidFill>
            <a:srgbClr val="FBE8D5"/>
          </a:solidFill>
          <a:ln w="6350">
            <a:solidFill>
              <a:srgbClr val="F1C9A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89888" y="3822192"/>
            <a:ext cx="1883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E386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HashMap&lt;OrderId, BookPrice&gt;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3611880" y="3822192"/>
            <a:ext cx="1874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维护合成 order_id cache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1188720" y="4251960"/>
            <a:ext cx="4535424" cy="329184"/>
          </a:xfrm>
          <a:prstGeom prst="rect">
            <a:avLst/>
          </a:prstGeom>
          <a:solidFill>
            <a:srgbClr val="FBE8D5"/>
          </a:solidFill>
          <a:ln w="6350">
            <a:solidFill>
              <a:srgbClr val="F1C9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89888" y="4325112"/>
            <a:ext cx="1883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E386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IndexMap&lt;OrderId, BookOrder&gt;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3611880" y="4325112"/>
            <a:ext cx="1874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 仍进入 order-level 容器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7059168" y="1901952"/>
            <a:ext cx="4206240" cy="3401568"/>
          </a:xfrm>
          <a:prstGeom prst="rect">
            <a:avLst/>
          </a:prstGeom>
          <a:solidFill>
            <a:srgbClr val="DDE8EF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60920" y="221284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E386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OVERHEAD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7360920" y="24871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 实际不需要什么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360920" y="3017520"/>
            <a:ext cx="73152" cy="73152"/>
          </a:xfrm>
          <a:prstGeom prst="rect">
            <a:avLst/>
          </a:prstGeom>
          <a:solidFill>
            <a:srgbClr val="E3863A"/>
          </a:solidFill>
          <a:ln w="12700">
            <a:solidFill>
              <a:srgbClr val="E3863A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62088" y="29443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不需要 order id cache 的一致性维护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7360920" y="3511296"/>
            <a:ext cx="73152" cy="73152"/>
          </a:xfrm>
          <a:prstGeom prst="rect">
            <a:avLst/>
          </a:prstGeom>
          <a:solidFill>
            <a:srgbClr val="E3863A"/>
          </a:solidFill>
          <a:ln w="12700">
            <a:solidFill>
              <a:srgbClr val="E3863A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62088" y="34381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不需要 BookLevel.orders 容器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7360920" y="4005072"/>
            <a:ext cx="73152" cy="73152"/>
          </a:xfrm>
          <a:prstGeom prst="rect">
            <a:avLst/>
          </a:prstGeom>
          <a:solidFill>
            <a:srgbClr val="E3863A"/>
          </a:solidFill>
          <a:ln w="12700">
            <a:solidFill>
              <a:srgbClr val="E3863A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62088" y="39319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不需要为 price level 构造合成订单语义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7360920" y="4498848"/>
            <a:ext cx="73152" cy="73152"/>
          </a:xfrm>
          <a:prstGeom prst="rect">
            <a:avLst/>
          </a:prstGeom>
          <a:solidFill>
            <a:srgbClr val="E3863A"/>
          </a:solidFill>
          <a:ln w="12700">
            <a:solidFill>
              <a:srgbClr val="E3863A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562088" y="442569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空间上不应为 order-level 对象付费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1078992" y="568756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结论：这里优化的不是 Big-O，而是 hot path 上反复出现的对象层级、hash 查找和容器维护。</a:t>
            </a:r>
            <a:endParaRPr lang="en-US" sz="11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E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3"/>
          </a:solidFill>
          <a:ln w="12700">
            <a:solidFill>
              <a:srgbClr val="E8EEF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1298448" y="466344"/>
            <a:ext cx="603504" cy="0"/>
          </a:xfrm>
          <a:prstGeom prst="line">
            <a:avLst/>
          </a:prstGeom>
          <a:noFill/>
          <a:ln w="13970">
            <a:solidFill>
              <a:srgbClr val="279C9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713232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优化方法：三种结构对应三类成本假设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76656" y="122529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Tree、Vec、Grid 分别验证语义收窄、连续内存、tick 离散化是否能转化为真实收益。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6437376"/>
            <a:ext cx="10881360" cy="0"/>
          </a:xfrm>
          <a:prstGeom prst="line">
            <a:avLst/>
          </a:prstGeom>
          <a:noFill/>
          <a:ln w="7620">
            <a:solidFill>
              <a:srgbClr val="B9CB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6537960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 Specialized Order Book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11027664" y="6501384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41248" y="1901952"/>
            <a:ext cx="3246120" cy="340156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33856" y="21762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Tree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152144" y="268833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去掉订单级抽象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1152144" y="3072384"/>
            <a:ext cx="2542032" cy="0"/>
          </a:xfrm>
          <a:prstGeom prst="line">
            <a:avLst/>
          </a:prstGeom>
          <a:noFill/>
          <a:ln w="8890">
            <a:solidFill>
              <a:srgbClr val="B9CB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2144" y="3310128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1700784" y="3273552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保留有序树，value 直接存 Quantity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1152144" y="3822192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预期</a:t>
            </a:r>
            <a:endParaRPr lang="en-US" sz="720" dirty="0"/>
          </a:p>
        </p:txBody>
      </p:sp>
      <p:sp>
        <p:nvSpPr>
          <p:cNvPr id="17" name="Text 15"/>
          <p:cNvSpPr/>
          <p:nvPr/>
        </p:nvSpPr>
        <p:spPr>
          <a:xfrm>
            <a:off x="1700784" y="3785616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更新常数下降；内存收缩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1152144" y="4334256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代价</a:t>
            </a:r>
            <a:endParaRPr lang="en-US" sz="720" dirty="0"/>
          </a:p>
        </p:txBody>
      </p:sp>
      <p:sp>
        <p:nvSpPr>
          <p:cNvPr id="19" name="Text 17"/>
          <p:cNvSpPr/>
          <p:nvPr/>
        </p:nvSpPr>
        <p:spPr>
          <a:xfrm>
            <a:off x="1700784" y="4297680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top-k 仍是树遍历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4645152" y="1901952"/>
            <a:ext cx="3246120" cy="340156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21762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77CA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Vec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4956048" y="268833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提升连续读取局部性</a:t>
            </a:r>
            <a:endParaRPr lang="en-US" sz="1020" dirty="0"/>
          </a:p>
        </p:txBody>
      </p:sp>
      <p:sp>
        <p:nvSpPr>
          <p:cNvPr id="23" name="Shape 21"/>
          <p:cNvSpPr/>
          <p:nvPr/>
        </p:nvSpPr>
        <p:spPr>
          <a:xfrm>
            <a:off x="4956048" y="3072384"/>
            <a:ext cx="2542032" cy="0"/>
          </a:xfrm>
          <a:prstGeom prst="line">
            <a:avLst/>
          </a:prstGeom>
          <a:noFill/>
          <a:ln w="8890">
            <a:solidFill>
              <a:srgbClr val="B9CBD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56048" y="3310128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5504688" y="3273552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排序 Vec + raw payload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4956048" y="3822192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预期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5504688" y="3785616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top-k 查询非常快；RSS 最低</a:t>
            </a:r>
            <a:endParaRPr lang="en-US" sz="840" dirty="0"/>
          </a:p>
        </p:txBody>
      </p:sp>
      <p:sp>
        <p:nvSpPr>
          <p:cNvPr id="28" name="Text 26"/>
          <p:cNvSpPr/>
          <p:nvPr/>
        </p:nvSpPr>
        <p:spPr>
          <a:xfrm>
            <a:off x="4956048" y="4334256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代价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5504688" y="4297680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insert/delete 中间位移</a:t>
            </a:r>
            <a:endParaRPr lang="en-US" sz="840" dirty="0"/>
          </a:p>
        </p:txBody>
      </p:sp>
      <p:sp>
        <p:nvSpPr>
          <p:cNvPr id="30" name="Shape 28"/>
          <p:cNvSpPr/>
          <p:nvPr/>
        </p:nvSpPr>
        <p:spPr>
          <a:xfrm>
            <a:off x="8449056" y="1901952"/>
            <a:ext cx="3246120" cy="340156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41664" y="21762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386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Grid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8759952" y="268833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利用价格 tick 离散性</a:t>
            </a:r>
            <a:endParaRPr lang="en-US" sz="1020" dirty="0"/>
          </a:p>
        </p:txBody>
      </p:sp>
      <p:sp>
        <p:nvSpPr>
          <p:cNvPr id="33" name="Shape 31"/>
          <p:cNvSpPr/>
          <p:nvPr/>
        </p:nvSpPr>
        <p:spPr>
          <a:xfrm>
            <a:off x="8759952" y="3072384"/>
            <a:ext cx="2542032" cy="0"/>
          </a:xfrm>
          <a:prstGeom prst="line">
            <a:avLst/>
          </a:prstGeom>
          <a:noFill/>
          <a:ln w="8890">
            <a:solidFill>
              <a:srgbClr val="B9CBD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59952" y="3310128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9308592" y="3273552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page + 64 slot + bitmap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8759952" y="3822192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预期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9308592" y="3785616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dense/deep 场景有潜力</a:t>
            </a:r>
            <a:endParaRPr lang="en-US" sz="840" dirty="0"/>
          </a:p>
        </p:txBody>
      </p:sp>
      <p:sp>
        <p:nvSpPr>
          <p:cNvPr id="38" name="Text 36"/>
          <p:cNvSpPr/>
          <p:nvPr/>
        </p:nvSpPr>
        <p:spPr>
          <a:xfrm>
            <a:off x="8759952" y="4334256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代价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9308592" y="4297680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sparse replay 空间放大</a:t>
            </a:r>
            <a:endParaRPr lang="en-US" sz="840" dirty="0"/>
          </a:p>
        </p:txBody>
      </p:sp>
      <p:sp>
        <p:nvSpPr>
          <p:cNvPr id="40" name="Text 38"/>
          <p:cNvSpPr/>
          <p:nvPr/>
        </p:nvSpPr>
        <p:spPr>
          <a:xfrm>
            <a:off x="1005840" y="5742432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统一评估：相同 raw L2 delta、相同 L2BookOps 接口、相同 correctness / replay / RSS 输出口径。</a:t>
            </a:r>
            <a:endParaRPr lang="en-US" sz="10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E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3"/>
          </a:solidFill>
          <a:ln w="12700">
            <a:solidFill>
              <a:srgbClr val="E8EEF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1298448" y="466344"/>
            <a:ext cx="603504" cy="0"/>
          </a:xfrm>
          <a:prstGeom prst="line">
            <a:avLst/>
          </a:prstGeom>
          <a:noFill/>
          <a:ln w="13970">
            <a:solidFill>
              <a:srgbClr val="279C9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713232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系统总体设计：让结果可比，而不是让实现各说各话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76656" y="122529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source of truth 始终是原始 L2 delta；结构只替换内部表示，不改变外部语义。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6437376"/>
            <a:ext cx="10881360" cy="0"/>
          </a:xfrm>
          <a:prstGeom prst="line">
            <a:avLst/>
          </a:prstGeom>
          <a:noFill/>
          <a:ln w="7620">
            <a:solidFill>
              <a:srgbClr val="B9CB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6537960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 Specialized Order Book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11027664" y="6501384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04672" y="2139696"/>
            <a:ext cx="1627632" cy="93268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139696"/>
            <a:ext cx="1627632" cy="91440"/>
          </a:xfrm>
          <a:prstGeom prst="rect">
            <a:avLst/>
          </a:prstGeom>
          <a:solidFill>
            <a:srgbClr val="477CA2"/>
          </a:solidFill>
          <a:ln w="12700">
            <a:solidFill>
              <a:srgbClr val="477CA2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7552" y="2359152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raw delta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87552" y="270662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原始 L2 数据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2889504" y="2139696"/>
            <a:ext cx="1627632" cy="93268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89504" y="2139696"/>
            <a:ext cx="1627632" cy="91440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72384" y="2359152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parser / replay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072384" y="270662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时间顺序回放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4974336" y="2139696"/>
            <a:ext cx="1627632" cy="93268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74336" y="2139696"/>
            <a:ext cx="1627632" cy="91440"/>
          </a:xfrm>
          <a:prstGeom prst="rect">
            <a:avLst/>
          </a:prstGeom>
          <a:solidFill>
            <a:srgbClr val="477CA2"/>
          </a:solidFill>
          <a:ln w="12700">
            <a:solidFill>
              <a:srgbClr val="477CA2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57216" y="2359152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L2BookOps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70662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统一操作接口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7296912" y="18470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实现候选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7296912" y="2139696"/>
            <a:ext cx="1261872" cy="310896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baseline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7296912" y="2157984"/>
            <a:ext cx="1261872" cy="0"/>
          </a:xfrm>
          <a:prstGeom prst="line">
            <a:avLst/>
          </a:prstGeom>
          <a:noFill/>
          <a:ln w="17780">
            <a:solidFill>
              <a:srgbClr val="8A9A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96912" y="2578608"/>
            <a:ext cx="1261872" cy="310896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tree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7296912" y="2596896"/>
            <a:ext cx="1261872" cy="0"/>
          </a:xfrm>
          <a:prstGeom prst="line">
            <a:avLst/>
          </a:prstGeom>
          <a:noFill/>
          <a:ln w="17780">
            <a:solidFill>
              <a:srgbClr val="279C9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96912" y="3017520"/>
            <a:ext cx="1261872" cy="310896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vec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7296912" y="3035808"/>
            <a:ext cx="1261872" cy="0"/>
          </a:xfrm>
          <a:prstGeom prst="line">
            <a:avLst/>
          </a:prstGeom>
          <a:noFill/>
          <a:ln w="17780">
            <a:solidFill>
              <a:srgbClr val="477CA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96912" y="3456432"/>
            <a:ext cx="1261872" cy="310896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grid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7296912" y="3474720"/>
            <a:ext cx="1261872" cy="0"/>
          </a:xfrm>
          <a:prstGeom prst="line">
            <a:avLst/>
          </a:prstGeom>
          <a:noFill/>
          <a:ln w="17780">
            <a:solidFill>
              <a:srgbClr val="E386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08592" y="2139696"/>
            <a:ext cx="1847088" cy="93268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08592" y="2139696"/>
            <a:ext cx="1847088" cy="91440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91472" y="2359152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summary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491472" y="270662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correctness / perf / RSS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2487168" y="2606040"/>
            <a:ext cx="310896" cy="0"/>
          </a:xfrm>
          <a:prstGeom prst="line">
            <a:avLst/>
          </a:prstGeom>
          <a:noFill/>
          <a:ln w="15240">
            <a:solidFill>
              <a:srgbClr val="B9CBD7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572000" y="2606040"/>
            <a:ext cx="310896" cy="0"/>
          </a:xfrm>
          <a:prstGeom prst="line">
            <a:avLst/>
          </a:prstGeom>
          <a:noFill/>
          <a:ln w="15240">
            <a:solidFill>
              <a:srgbClr val="B9CBD7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656832" y="2606040"/>
            <a:ext cx="310896" cy="0"/>
          </a:xfrm>
          <a:prstGeom prst="line">
            <a:avLst/>
          </a:prstGeom>
          <a:noFill/>
          <a:ln w="15240">
            <a:solidFill>
              <a:srgbClr val="B9CBD7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851392" y="2606040"/>
            <a:ext cx="365760" cy="0"/>
          </a:xfrm>
          <a:prstGeom prst="line">
            <a:avLst/>
          </a:prstGeom>
          <a:noFill/>
          <a:ln w="15240">
            <a:solidFill>
              <a:srgbClr val="B9CBD7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1115568" y="4645152"/>
            <a:ext cx="2852928" cy="877824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71600" y="4882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统一输入</a:t>
            </a:r>
            <a:endParaRPr lang="en-US" sz="1120" dirty="0"/>
          </a:p>
        </p:txBody>
      </p:sp>
      <p:sp>
        <p:nvSpPr>
          <p:cNvPr id="41" name="Text 39"/>
          <p:cNvSpPr/>
          <p:nvPr/>
        </p:nvSpPr>
        <p:spPr>
          <a:xfrm>
            <a:off x="1371600" y="521208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所有结构消费同一份 raw delta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645152" y="4645152"/>
            <a:ext cx="2852928" cy="877824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01184" y="4882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统一接口</a:t>
            </a:r>
            <a:endParaRPr lang="en-US" sz="1120" dirty="0"/>
          </a:p>
        </p:txBody>
      </p:sp>
      <p:sp>
        <p:nvSpPr>
          <p:cNvPr id="44" name="Text 42"/>
          <p:cNvSpPr/>
          <p:nvPr/>
        </p:nvSpPr>
        <p:spPr>
          <a:xfrm>
            <a:off x="4901184" y="521208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只替换内部表示，不改变外部语义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8174736" y="4645152"/>
            <a:ext cx="2852928" cy="877824"/>
          </a:xfrm>
          <a:prstGeom prst="rect">
            <a:avLst/>
          </a:prstGeom>
          <a:solidFill>
            <a:srgbClr val="DDF1EE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430768" y="4882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统一解释</a:t>
            </a:r>
            <a:endParaRPr lang="en-US" sz="1120" dirty="0"/>
          </a:p>
        </p:txBody>
      </p:sp>
      <p:sp>
        <p:nvSpPr>
          <p:cNvPr id="47" name="Text 45"/>
          <p:cNvSpPr/>
          <p:nvPr/>
        </p:nvSpPr>
        <p:spPr>
          <a:xfrm>
            <a:off x="8430768" y="521208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结果回到成本假设本身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E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3"/>
          </a:solidFill>
          <a:ln w="12700">
            <a:solidFill>
              <a:srgbClr val="E8EEF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1298448" y="466344"/>
            <a:ext cx="603504" cy="0"/>
          </a:xfrm>
          <a:prstGeom prst="line">
            <a:avLst/>
          </a:prstGeom>
          <a:noFill/>
          <a:ln w="13970">
            <a:solidFill>
              <a:srgbClr val="279C9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713232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L2TreeBook：语义收窄带来稳定收益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76656" y="122529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Tree 保留有序树的鲁棒性，把 L2 不需要的订单语义从 hot path 中拿掉。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6437376"/>
            <a:ext cx="10881360" cy="0"/>
          </a:xfrm>
          <a:prstGeom prst="line">
            <a:avLst/>
          </a:prstGeom>
          <a:noFill/>
          <a:ln w="7620">
            <a:solidFill>
              <a:srgbClr val="B9CB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6537960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 Specialized Order Book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11027664" y="6501384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41248" y="1828800"/>
            <a:ext cx="4297680" cy="3328416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33856" y="212140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DESIGN</a:t>
            </a:r>
            <a:endParaRPr lang="en-US" sz="740" dirty="0"/>
          </a:p>
        </p:txBody>
      </p:sp>
      <p:sp>
        <p:nvSpPr>
          <p:cNvPr id="12" name="Text 10"/>
          <p:cNvSpPr/>
          <p:nvPr/>
        </p:nvSpPr>
        <p:spPr>
          <a:xfrm>
            <a:off x="1133856" y="23957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 BookLevel 到 Quantity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170432" y="2852928"/>
            <a:ext cx="3621024" cy="56692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70432" y="2852928"/>
            <a:ext cx="3621024" cy="91440"/>
          </a:xfrm>
          <a:prstGeom prst="rect">
            <a:avLst/>
          </a:prstGeom>
          <a:solidFill>
            <a:srgbClr val="E3863A"/>
          </a:solidFill>
          <a:ln w="12700">
            <a:solidFill>
              <a:srgbClr val="E3863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53312" y="3072384"/>
            <a:ext cx="3255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BTreeMap&lt;BookPrice, BookLevel&gt;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53312" y="3419856"/>
            <a:ext cx="3255264" cy="-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price level + orders 容器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1170432" y="3785616"/>
            <a:ext cx="3621024" cy="56692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70432" y="3785616"/>
            <a:ext cx="3621024" cy="91440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53312" y="4005072"/>
            <a:ext cx="3255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BTreeMap&lt;BookPrice, Quantity&gt;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53312" y="4352544"/>
            <a:ext cx="3255264" cy="-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price level 直接存聚合数量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2980944" y="3474720"/>
            <a:ext cx="0" cy="256032"/>
          </a:xfrm>
          <a:prstGeom prst="line">
            <a:avLst/>
          </a:prstGeom>
          <a:noFill/>
          <a:ln w="15240">
            <a:solidFill>
              <a:srgbClr val="B9CBD7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133856" y="468172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理论收益：仍是 O(log L)，但对象层级、cache 操作和合成 order 维护消失，常数项下降。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5449824" y="1828800"/>
            <a:ext cx="1792224" cy="120700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9824" y="1828800"/>
            <a:ext cx="73152" cy="1207008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0" y="1975104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replay only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5669280" y="2212848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239,500/s</a:t>
            </a:r>
            <a:endParaRPr lang="en-US" sz="1420" dirty="0"/>
          </a:p>
        </p:txBody>
      </p:sp>
      <p:sp>
        <p:nvSpPr>
          <p:cNvPr id="27" name="Text 25"/>
          <p:cNvSpPr/>
          <p:nvPr/>
        </p:nvSpPr>
        <p:spPr>
          <a:xfrm>
            <a:off x="5669280" y="269748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+28.4% vs baseline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7461504" y="1828800"/>
            <a:ext cx="1792224" cy="120700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61504" y="1828800"/>
            <a:ext cx="73152" cy="1207008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0" y="1975104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peak RSS</a:t>
            </a:r>
            <a:endParaRPr lang="en-US" sz="820" dirty="0"/>
          </a:p>
        </p:txBody>
      </p:sp>
      <p:sp>
        <p:nvSpPr>
          <p:cNvPr id="31" name="Text 29"/>
          <p:cNvSpPr/>
          <p:nvPr/>
        </p:nvSpPr>
        <p:spPr>
          <a:xfrm>
            <a:off x="7680960" y="2212848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6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32.5 MB</a:t>
            </a:r>
            <a:endParaRPr lang="en-US" sz="1860" dirty="0"/>
          </a:p>
        </p:txBody>
      </p:sp>
      <p:sp>
        <p:nvSpPr>
          <p:cNvPr id="32" name="Text 30"/>
          <p:cNvSpPr/>
          <p:nvPr/>
        </p:nvSpPr>
        <p:spPr>
          <a:xfrm>
            <a:off x="7680960" y="269748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约 -37.6%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9473184" y="1828800"/>
            <a:ext cx="1664208" cy="120700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73184" y="1828800"/>
            <a:ext cx="73152" cy="1207008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92640" y="1975104"/>
            <a:ext cx="1316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定位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9692640" y="2212848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6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主候选</a:t>
            </a:r>
            <a:endParaRPr lang="en-US" sz="1860" dirty="0"/>
          </a:p>
        </p:txBody>
      </p:sp>
      <p:sp>
        <p:nvSpPr>
          <p:cNvPr id="37" name="Text 35"/>
          <p:cNvSpPr/>
          <p:nvPr/>
        </p:nvSpPr>
        <p:spPr>
          <a:xfrm>
            <a:off x="9692640" y="2697480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默认实时维护结构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5577840" y="3493008"/>
            <a:ext cx="5614416" cy="166420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70448" y="374904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10M replay 吞吐对比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870448" y="4242816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baseline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7260336" y="4261104"/>
            <a:ext cx="2542032" cy="146304"/>
          </a:xfrm>
          <a:prstGeom prst="rect">
            <a:avLst/>
          </a:prstGeom>
          <a:solidFill>
            <a:srgbClr val="DDE8EF"/>
          </a:solidFill>
          <a:ln w="12700">
            <a:solidFill>
              <a:srgbClr val="DDE8EF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60336" y="4261104"/>
            <a:ext cx="1979866" cy="146304"/>
          </a:xfrm>
          <a:prstGeom prst="rect">
            <a:avLst/>
          </a:prstGeom>
          <a:solidFill>
            <a:srgbClr val="8A9AAA"/>
          </a:solidFill>
          <a:ln w="12700">
            <a:solidFill>
              <a:srgbClr val="8A9AAA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040112" y="423367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8A9AA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186,535/s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870448" y="4681728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L2TreeBook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7260336" y="4700016"/>
            <a:ext cx="2542032" cy="146304"/>
          </a:xfrm>
          <a:prstGeom prst="rect">
            <a:avLst/>
          </a:prstGeom>
          <a:solidFill>
            <a:srgbClr val="DDE8EF"/>
          </a:solidFill>
          <a:ln w="12700">
            <a:solidFill>
              <a:srgbClr val="DDE8E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60336" y="4700016"/>
            <a:ext cx="2542032" cy="146304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040112" y="467258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239,500/s</a:t>
            </a:r>
            <a:endParaRPr lang="en-US" sz="7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EE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3"/>
          </a:solidFill>
          <a:ln w="12700">
            <a:solidFill>
              <a:srgbClr val="E8EEF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1298448" y="466344"/>
            <a:ext cx="603504" cy="0"/>
          </a:xfrm>
          <a:prstGeom prst="line">
            <a:avLst/>
          </a:prstGeom>
          <a:noFill/>
          <a:ln w="13970">
            <a:solidFill>
              <a:srgbClr val="279C9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713232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L2VecBook：查询局部性强，但维护路径有代价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76656" y="122529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连续内存让 top-k 查询非常快；真实 replay 中的中间 insert/delete 会吃掉维护收益。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6437376"/>
            <a:ext cx="10881360" cy="0"/>
          </a:xfrm>
          <a:prstGeom prst="line">
            <a:avLst/>
          </a:prstGeom>
          <a:noFill/>
          <a:ln w="7620">
            <a:solidFill>
              <a:srgbClr val="B9CB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6537960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 Specialized Order Book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11027664" y="6501384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41248" y="1828800"/>
            <a:ext cx="4800600" cy="3474720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33856" y="212140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77CA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QUERY</a:t>
            </a:r>
            <a:endParaRPr lang="en-US" sz="740" dirty="0"/>
          </a:p>
        </p:txBody>
      </p:sp>
      <p:sp>
        <p:nvSpPr>
          <p:cNvPr id="12" name="Text 10"/>
          <p:cNvSpPr/>
          <p:nvPr/>
        </p:nvSpPr>
        <p:spPr>
          <a:xfrm>
            <a:off x="1133856" y="23957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top-k 查询延迟显著下降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33856" y="2889504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baseline q100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523744" y="2907792"/>
            <a:ext cx="1572768" cy="146304"/>
          </a:xfrm>
          <a:prstGeom prst="rect">
            <a:avLst/>
          </a:prstGeom>
          <a:solidFill>
            <a:srgbClr val="DDE8EF"/>
          </a:solidFill>
          <a:ln w="12700">
            <a:solidFill>
              <a:srgbClr val="DDE8E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23744" y="2907792"/>
            <a:ext cx="850437" cy="146304"/>
          </a:xfrm>
          <a:prstGeom prst="rect">
            <a:avLst/>
          </a:prstGeom>
          <a:solidFill>
            <a:srgbClr val="8A9AAA"/>
          </a:solidFill>
          <a:ln w="12700">
            <a:solidFill>
              <a:srgbClr val="8A9AA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4256" y="288036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8A9AA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3,379 ns</a:t>
            </a:r>
            <a:endParaRPr lang="en-US" sz="740" dirty="0"/>
          </a:p>
        </p:txBody>
      </p:sp>
      <p:sp>
        <p:nvSpPr>
          <p:cNvPr id="17" name="Text 15"/>
          <p:cNvSpPr/>
          <p:nvPr/>
        </p:nvSpPr>
        <p:spPr>
          <a:xfrm>
            <a:off x="1133856" y="3346704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vec q100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523744" y="3364992"/>
            <a:ext cx="1572768" cy="146304"/>
          </a:xfrm>
          <a:prstGeom prst="rect">
            <a:avLst/>
          </a:prstGeom>
          <a:solidFill>
            <a:srgbClr val="DDE8EF"/>
          </a:solidFill>
          <a:ln w="12700">
            <a:solidFill>
              <a:srgbClr val="DDE8E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23744" y="3364992"/>
            <a:ext cx="190524" cy="146304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34256" y="333756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757 ns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1133856" y="3968496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baseline q1000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2523744" y="3986784"/>
            <a:ext cx="1572768" cy="146304"/>
          </a:xfrm>
          <a:prstGeom prst="rect">
            <a:avLst/>
          </a:prstGeom>
          <a:solidFill>
            <a:srgbClr val="DDE8EF"/>
          </a:solidFill>
          <a:ln w="12700">
            <a:solidFill>
              <a:srgbClr val="DDE8E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23744" y="3986784"/>
            <a:ext cx="1347512" cy="146304"/>
          </a:xfrm>
          <a:prstGeom prst="rect">
            <a:avLst/>
          </a:prstGeom>
          <a:solidFill>
            <a:srgbClr val="8A9AAA"/>
          </a:solidFill>
          <a:ln w="12700">
            <a:solidFill>
              <a:srgbClr val="8A9AA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34256" y="395935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8A9AA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5,354 ns</a:t>
            </a:r>
            <a:endParaRPr lang="en-US" sz="740" dirty="0"/>
          </a:p>
        </p:txBody>
      </p:sp>
      <p:sp>
        <p:nvSpPr>
          <p:cNvPr id="25" name="Text 23"/>
          <p:cNvSpPr/>
          <p:nvPr/>
        </p:nvSpPr>
        <p:spPr>
          <a:xfrm>
            <a:off x="1133856" y="4425696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vec q1000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523744" y="4443984"/>
            <a:ext cx="1572768" cy="146304"/>
          </a:xfrm>
          <a:prstGeom prst="rect">
            <a:avLst/>
          </a:prstGeom>
          <a:solidFill>
            <a:srgbClr val="DDE8EF"/>
          </a:solidFill>
          <a:ln w="12700">
            <a:solidFill>
              <a:srgbClr val="DDE8E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23744" y="4443984"/>
            <a:ext cx="326936" cy="146304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34256" y="441655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1,299 ns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1133856" y="4956048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原因：排序 Vec 的前缀扫描更接近 CPU cache 友好的连续读取。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6236208" y="1828800"/>
            <a:ext cx="4754880" cy="3474720"/>
          </a:xfrm>
          <a:prstGeom prst="rect">
            <a:avLst/>
          </a:prstGeom>
          <a:solidFill>
            <a:srgbClr val="DDE8EF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28816" y="212140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E386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MAINTENANCE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6528816" y="23957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 replay 暴露 shift 成本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528816" y="2944368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baseline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918704" y="2962656"/>
            <a:ext cx="1828800" cy="146304"/>
          </a:xfrm>
          <a:prstGeom prst="rect">
            <a:avLst/>
          </a:prstGeom>
          <a:solidFill>
            <a:srgbClr val="DDE8EF"/>
          </a:solidFill>
          <a:ln w="12700">
            <a:solidFill>
              <a:srgbClr val="DDE8E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8704" y="2962656"/>
            <a:ext cx="1424364" cy="146304"/>
          </a:xfrm>
          <a:prstGeom prst="rect">
            <a:avLst/>
          </a:prstGeom>
          <a:solidFill>
            <a:srgbClr val="8A9AAA"/>
          </a:solidFill>
          <a:ln w="12700">
            <a:solidFill>
              <a:srgbClr val="8A9AAA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985248" y="293522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8A9AA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186,535/s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6528816" y="3474720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tree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918704" y="3493008"/>
            <a:ext cx="1828800" cy="146304"/>
          </a:xfrm>
          <a:prstGeom prst="rect">
            <a:avLst/>
          </a:prstGeom>
          <a:solidFill>
            <a:srgbClr val="DDE8EF"/>
          </a:solidFill>
          <a:ln w="12700">
            <a:solidFill>
              <a:srgbClr val="DDE8E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18704" y="3493008"/>
            <a:ext cx="1828800" cy="146304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85248" y="346557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239,500/s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6528816" y="4005072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vec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918704" y="4023360"/>
            <a:ext cx="1828800" cy="146304"/>
          </a:xfrm>
          <a:prstGeom prst="rect">
            <a:avLst/>
          </a:prstGeom>
          <a:solidFill>
            <a:srgbClr val="DDE8EF"/>
          </a:solidFill>
          <a:ln w="12700">
            <a:solidFill>
              <a:srgbClr val="DDE8EF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918704" y="4023360"/>
            <a:ext cx="1340507" cy="146304"/>
          </a:xfrm>
          <a:prstGeom prst="rect">
            <a:avLst/>
          </a:prstGeom>
          <a:solidFill>
            <a:srgbClr val="E3863A"/>
          </a:solidFill>
          <a:ln w="12700">
            <a:solidFill>
              <a:srgbClr val="E3863A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85248" y="399592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E386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175,553/s</a:t>
            </a:r>
            <a:endParaRPr lang="en-US" sz="740" dirty="0"/>
          </a:p>
        </p:txBody>
      </p:sp>
      <p:sp>
        <p:nvSpPr>
          <p:cNvPr id="45" name="Text 43"/>
          <p:cNvSpPr/>
          <p:nvPr/>
        </p:nvSpPr>
        <p:spPr>
          <a:xfrm>
            <a:off x="6528816" y="4663440"/>
            <a:ext cx="3895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工程定位：不作为默认实时维护 book；适合 top-k feature、因子计算和离线 analytics。</a:t>
            </a:r>
            <a:endParaRPr lang="en-US" sz="9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E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3"/>
          </a:solidFill>
          <a:ln w="12700">
            <a:solidFill>
              <a:srgbClr val="E8EEF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1298448" y="466344"/>
            <a:ext cx="603504" cy="0"/>
          </a:xfrm>
          <a:prstGeom prst="line">
            <a:avLst/>
          </a:prstGeom>
          <a:noFill/>
          <a:ln w="13970">
            <a:solidFill>
              <a:srgbClr val="279C9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713232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L2GridBook：tick-grid 是条件型优化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76656" y="122529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Grid 的优势依赖 dense/deep 盘口；真实 sparse replay 下，page 空间和浅查询常数会反噬。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6437376"/>
            <a:ext cx="10881360" cy="0"/>
          </a:xfrm>
          <a:prstGeom prst="line">
            <a:avLst/>
          </a:prstGeom>
          <a:noFill/>
          <a:ln w="7620">
            <a:solidFill>
              <a:srgbClr val="B9CB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6537960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 Specialized Order Book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11027664" y="6501384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41248" y="1828800"/>
            <a:ext cx="4754880" cy="340156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33856" y="212140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WHEN IT WORKS</a:t>
            </a:r>
            <a:endParaRPr lang="en-US" sz="740" dirty="0"/>
          </a:p>
        </p:txBody>
      </p:sp>
      <p:sp>
        <p:nvSpPr>
          <p:cNvPr id="12" name="Text 10"/>
          <p:cNvSpPr/>
          <p:nvPr/>
        </p:nvSpPr>
        <p:spPr>
          <a:xfrm>
            <a:off x="1133856" y="23957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理论优势成立的条件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133856" y="2944368"/>
            <a:ext cx="73152" cy="73152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5024" y="2871216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价格分布 dense：active slots / allocated slots 高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1133856" y="3493008"/>
            <a:ext cx="73152" cy="73152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35024" y="3419856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查询深度 deep：top-N 经常跨连续价位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1133856" y="4041648"/>
            <a:ext cx="73152" cy="73152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35024" y="3968496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更新集中在已有 page：减少 page 分配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236208" y="1828800"/>
            <a:ext cx="4754880" cy="3401568"/>
          </a:xfrm>
          <a:prstGeom prst="rect">
            <a:avLst/>
          </a:prstGeom>
          <a:solidFill>
            <a:srgbClr val="FBE8D5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28816" y="212140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E386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WHAT HAPPENED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6528816" y="23957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 sparse replay 的代价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73952" y="2743200"/>
            <a:ext cx="1389888" cy="120700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73952" y="2743200"/>
            <a:ext cx="73152" cy="1207008"/>
          </a:xfrm>
          <a:prstGeom prst="rect">
            <a:avLst/>
          </a:prstGeom>
          <a:solidFill>
            <a:srgbClr val="E3863A"/>
          </a:solidFill>
          <a:ln w="12700">
            <a:solidFill>
              <a:srgbClr val="E3863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93408" y="2889504"/>
            <a:ext cx="1042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replay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6693408" y="3127248"/>
            <a:ext cx="1042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E386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190k/s</a:t>
            </a:r>
            <a:endParaRPr lang="en-US" sz="1420" dirty="0"/>
          </a:p>
        </p:txBody>
      </p:sp>
      <p:sp>
        <p:nvSpPr>
          <p:cNvPr id="26" name="Text 24"/>
          <p:cNvSpPr/>
          <p:nvPr/>
        </p:nvSpPr>
        <p:spPr>
          <a:xfrm>
            <a:off x="6693408" y="361188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略高 baseline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8119872" y="2743200"/>
            <a:ext cx="1389888" cy="120700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2743200"/>
            <a:ext cx="73152" cy="1207008"/>
          </a:xfrm>
          <a:prstGeom prst="rect">
            <a:avLst/>
          </a:prstGeom>
          <a:solidFill>
            <a:srgbClr val="E3863A"/>
          </a:solidFill>
          <a:ln w="12700">
            <a:solidFill>
              <a:srgbClr val="E3863A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39328" y="2889504"/>
            <a:ext cx="1042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q100</a:t>
            </a:r>
            <a:endParaRPr lang="en-US" sz="720" dirty="0"/>
          </a:p>
        </p:txBody>
      </p:sp>
      <p:sp>
        <p:nvSpPr>
          <p:cNvPr id="30" name="Text 28"/>
          <p:cNvSpPr/>
          <p:nvPr/>
        </p:nvSpPr>
        <p:spPr>
          <a:xfrm>
            <a:off x="8339328" y="3127248"/>
            <a:ext cx="1042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E386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4,554 ns</a:t>
            </a:r>
            <a:endParaRPr lang="en-US" sz="1420" dirty="0"/>
          </a:p>
        </p:txBody>
      </p:sp>
      <p:sp>
        <p:nvSpPr>
          <p:cNvPr id="31" name="Text 29"/>
          <p:cNvSpPr/>
          <p:nvPr/>
        </p:nvSpPr>
        <p:spPr>
          <a:xfrm>
            <a:off x="8339328" y="361188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慢于 baseline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9765792" y="2743200"/>
            <a:ext cx="1170432" cy="120700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765792" y="2743200"/>
            <a:ext cx="73152" cy="1207008"/>
          </a:xfrm>
          <a:prstGeom prst="rect">
            <a:avLst/>
          </a:prstGeom>
          <a:solidFill>
            <a:srgbClr val="E3863A"/>
          </a:solidFill>
          <a:ln w="12700">
            <a:solidFill>
              <a:srgbClr val="E3863A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85248" y="288950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RSS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9985248" y="312724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E386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206 MB</a:t>
            </a:r>
            <a:endParaRPr lang="en-US" sz="1420" dirty="0"/>
          </a:p>
        </p:txBody>
      </p:sp>
      <p:sp>
        <p:nvSpPr>
          <p:cNvPr id="36" name="Text 34"/>
          <p:cNvSpPr/>
          <p:nvPr/>
        </p:nvSpPr>
        <p:spPr>
          <a:xfrm>
            <a:off x="9985248" y="361188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空间放大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6528816" y="4498848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工程定位：dense/deep 场景候选；当前 BTCUSDT sparse replay 不适合作为通用默认路径。</a:t>
            </a:r>
            <a:endParaRPr lang="en-US" sz="9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E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3"/>
          </a:solidFill>
          <a:ln w="12700">
            <a:solidFill>
              <a:srgbClr val="E8EEF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1298448" y="466344"/>
            <a:ext cx="603504" cy="0"/>
          </a:xfrm>
          <a:prstGeom prst="line">
            <a:avLst/>
          </a:prstGeom>
          <a:noFill/>
          <a:ln w="13970">
            <a:solidFill>
              <a:srgbClr val="279C9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713232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实验设计：统一口径验证结构假设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76656" y="122529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实验闭环由 microbench、真实 replay、查询负载和内存指标共同组成。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6437376"/>
            <a:ext cx="10881360" cy="0"/>
          </a:xfrm>
          <a:prstGeom prst="line">
            <a:avLst/>
          </a:prstGeom>
          <a:noFill/>
          <a:ln w="7620">
            <a:solidFill>
              <a:srgbClr val="B9CB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6537960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 Specialized Order Book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11027664" y="6501384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41248" y="1828800"/>
            <a:ext cx="2340864" cy="120700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1828800"/>
            <a:ext cx="73152" cy="1207008"/>
          </a:xfrm>
          <a:prstGeom prst="rect">
            <a:avLst/>
          </a:prstGeom>
          <a:solidFill>
            <a:srgbClr val="477CA2"/>
          </a:solidFill>
          <a:ln w="12700">
            <a:solidFill>
              <a:srgbClr val="477CA2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1975104"/>
            <a:ext cx="19933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1060704" y="221284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60" b="1" dirty="0">
                <a:solidFill>
                  <a:srgbClr val="477CA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10M</a:t>
            </a:r>
            <a:endParaRPr lang="en-US" sz="1860" dirty="0"/>
          </a:p>
        </p:txBody>
      </p:sp>
      <p:sp>
        <p:nvSpPr>
          <p:cNvPr id="14" name="Text 12"/>
          <p:cNvSpPr/>
          <p:nvPr/>
        </p:nvSpPr>
        <p:spPr>
          <a:xfrm>
            <a:off x="1060704" y="2697480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Binance Futures BTCUSDT L2 delta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3493008" y="1828800"/>
            <a:ext cx="2340864" cy="120700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93008" y="1828800"/>
            <a:ext cx="73152" cy="1207008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12464" y="1975104"/>
            <a:ext cx="19933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重复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3712464" y="221284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6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次</a:t>
            </a:r>
            <a:endParaRPr lang="en-US" sz="1860" dirty="0"/>
          </a:p>
        </p:txBody>
      </p:sp>
      <p:sp>
        <p:nvSpPr>
          <p:cNvPr id="19" name="Text 17"/>
          <p:cNvSpPr/>
          <p:nvPr/>
        </p:nvSpPr>
        <p:spPr>
          <a:xfrm>
            <a:off x="3712464" y="2697480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降低单次运行波动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144768" y="1828800"/>
            <a:ext cx="2340864" cy="120700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44768" y="1828800"/>
            <a:ext cx="73152" cy="1207008"/>
          </a:xfrm>
          <a:prstGeom prst="rect">
            <a:avLst/>
          </a:prstGeom>
          <a:solidFill>
            <a:srgbClr val="477CA2"/>
          </a:solidFill>
          <a:ln w="12700">
            <a:solidFill>
              <a:srgbClr val="477CA2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64224" y="1975104"/>
            <a:ext cx="19933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负载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6364224" y="221284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60" b="1" dirty="0">
                <a:solidFill>
                  <a:srgbClr val="477CA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类</a:t>
            </a:r>
            <a:endParaRPr lang="en-US" sz="1860" dirty="0"/>
          </a:p>
        </p:txBody>
      </p:sp>
      <p:sp>
        <p:nvSpPr>
          <p:cNvPr id="24" name="Text 22"/>
          <p:cNvSpPr/>
          <p:nvPr/>
        </p:nvSpPr>
        <p:spPr>
          <a:xfrm>
            <a:off x="6364224" y="2697480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replay_only / q100 / q1000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8796528" y="1828800"/>
            <a:ext cx="2340864" cy="120700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96528" y="1828800"/>
            <a:ext cx="73152" cy="1207008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15984" y="1975104"/>
            <a:ext cx="19933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指标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9015984" y="221284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6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 组</a:t>
            </a:r>
            <a:endParaRPr lang="en-US" sz="1860" dirty="0"/>
          </a:p>
        </p:txBody>
      </p:sp>
      <p:sp>
        <p:nvSpPr>
          <p:cNvPr id="29" name="Text 27"/>
          <p:cNvSpPr/>
          <p:nvPr/>
        </p:nvSpPr>
        <p:spPr>
          <a:xfrm>
            <a:off x="9015984" y="2697480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correctness / throughput / latency / RSS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987552" y="4133088"/>
            <a:ext cx="10104120" cy="896112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98448" y="4334256"/>
            <a:ext cx="1847088" cy="493776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microbench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1298448" y="4352544"/>
            <a:ext cx="1847088" cy="0"/>
          </a:xfrm>
          <a:prstGeom prst="line">
            <a:avLst/>
          </a:prstGeom>
          <a:noFill/>
          <a:ln w="17780">
            <a:solidFill>
              <a:srgbClr val="477CA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30752" y="4334256"/>
            <a:ext cx="1847088" cy="493776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replay</a:t>
            </a:r>
            <a:endParaRPr lang="en-US" sz="820" dirty="0"/>
          </a:p>
        </p:txBody>
      </p:sp>
      <p:sp>
        <p:nvSpPr>
          <p:cNvPr id="34" name="Shape 32"/>
          <p:cNvSpPr/>
          <p:nvPr/>
        </p:nvSpPr>
        <p:spPr>
          <a:xfrm>
            <a:off x="3730752" y="4352544"/>
            <a:ext cx="1847088" cy="0"/>
          </a:xfrm>
          <a:prstGeom prst="line">
            <a:avLst/>
          </a:prstGeom>
          <a:noFill/>
          <a:ln w="17780">
            <a:solidFill>
              <a:srgbClr val="279C9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63056" y="4334256"/>
            <a:ext cx="1847088" cy="493776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query mix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6163056" y="4352544"/>
            <a:ext cx="1847088" cy="0"/>
          </a:xfrm>
          <a:prstGeom prst="line">
            <a:avLst/>
          </a:prstGeom>
          <a:noFill/>
          <a:ln w="17780">
            <a:solidFill>
              <a:srgbClr val="477CA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95360" y="4334256"/>
            <a:ext cx="1847088" cy="493776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summary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8595360" y="4352544"/>
            <a:ext cx="1847088" cy="0"/>
          </a:xfrm>
          <a:prstGeom prst="line">
            <a:avLst/>
          </a:prstGeom>
          <a:noFill/>
          <a:ln w="17780">
            <a:solidFill>
              <a:srgbClr val="279C9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0" y="4572000"/>
            <a:ext cx="457200" cy="0"/>
          </a:xfrm>
          <a:prstGeom prst="line">
            <a:avLst/>
          </a:prstGeom>
          <a:noFill/>
          <a:ln w="15240">
            <a:solidFill>
              <a:srgbClr val="B9CBD7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5632704" y="4572000"/>
            <a:ext cx="457200" cy="0"/>
          </a:xfrm>
          <a:prstGeom prst="line">
            <a:avLst/>
          </a:prstGeom>
          <a:noFill/>
          <a:ln w="15240">
            <a:solidFill>
              <a:srgbClr val="B9CBD7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065008" y="4572000"/>
            <a:ext cx="457200" cy="0"/>
          </a:xfrm>
          <a:prstGeom prst="line">
            <a:avLst/>
          </a:prstGeom>
          <a:noFill/>
          <a:ln w="15240">
            <a:solidFill>
              <a:srgbClr val="B9CBD7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1078992" y="557784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审稿口径：每个结构都要回答“想消掉哪部分 overhead、预期收益是什么、实测是否支持”。</a:t>
            </a:r>
            <a:endParaRPr lang="en-US" sz="10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EE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3"/>
          </a:solidFill>
          <a:ln w="12700">
            <a:solidFill>
              <a:srgbClr val="E8EEF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1298448" y="466344"/>
            <a:ext cx="603504" cy="0"/>
          </a:xfrm>
          <a:prstGeom prst="line">
            <a:avLst/>
          </a:prstGeom>
          <a:noFill/>
          <a:ln w="13970">
            <a:solidFill>
              <a:srgbClr val="279C9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713232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核心结果：没有一种结构全场景最优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76656" y="122529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Tree 综合最稳；Vec 查询最强；Grid 是条件型结构；baseline 是安全参照。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6437376"/>
            <a:ext cx="10881360" cy="0"/>
          </a:xfrm>
          <a:prstGeom prst="line">
            <a:avLst/>
          </a:prstGeom>
          <a:noFill/>
          <a:ln w="7620">
            <a:solidFill>
              <a:srgbClr val="B9CB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6537960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 Specialized Order Book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11027664" y="6501384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8368" y="1828800"/>
            <a:ext cx="3456432" cy="3090672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84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吞吐 updates/s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83564" y="3019051"/>
            <a:ext cx="315468" cy="839717"/>
          </a:xfrm>
          <a:prstGeom prst="rect">
            <a:avLst/>
          </a:prstGeom>
          <a:solidFill>
            <a:srgbClr val="8A9AAA"/>
          </a:solidFill>
          <a:ln w="12700">
            <a:solidFill>
              <a:srgbClr val="8A9AA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2990" y="2689867"/>
            <a:ext cx="4251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8A9AA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186k</a:t>
            </a:r>
            <a:endParaRPr lang="en-US" sz="580" dirty="0"/>
          </a:p>
        </p:txBody>
      </p:sp>
      <p:sp>
        <p:nvSpPr>
          <p:cNvPr id="14" name="Text 12"/>
          <p:cNvSpPr/>
          <p:nvPr/>
        </p:nvSpPr>
        <p:spPr>
          <a:xfrm>
            <a:off x="932688" y="4041648"/>
            <a:ext cx="6172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base</a:t>
            </a:r>
            <a:endParaRPr lang="en-US" sz="680" dirty="0"/>
          </a:p>
        </p:txBody>
      </p:sp>
      <p:sp>
        <p:nvSpPr>
          <p:cNvPr id="15" name="Shape 13"/>
          <p:cNvSpPr/>
          <p:nvPr/>
        </p:nvSpPr>
        <p:spPr>
          <a:xfrm>
            <a:off x="1769364" y="2780620"/>
            <a:ext cx="315468" cy="1078148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48790" y="2578608"/>
            <a:ext cx="4251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239k</a:t>
            </a:r>
            <a:endParaRPr lang="en-US" sz="580" dirty="0"/>
          </a:p>
        </p:txBody>
      </p:sp>
      <p:sp>
        <p:nvSpPr>
          <p:cNvPr id="17" name="Text 15"/>
          <p:cNvSpPr/>
          <p:nvPr/>
        </p:nvSpPr>
        <p:spPr>
          <a:xfrm>
            <a:off x="1618488" y="4041648"/>
            <a:ext cx="6172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tree</a:t>
            </a:r>
            <a:endParaRPr lang="en-US" sz="680" dirty="0"/>
          </a:p>
        </p:txBody>
      </p:sp>
      <p:sp>
        <p:nvSpPr>
          <p:cNvPr id="18" name="Shape 16"/>
          <p:cNvSpPr/>
          <p:nvPr/>
        </p:nvSpPr>
        <p:spPr>
          <a:xfrm>
            <a:off x="2455164" y="3068488"/>
            <a:ext cx="315468" cy="790280"/>
          </a:xfrm>
          <a:prstGeom prst="rect">
            <a:avLst/>
          </a:prstGeom>
          <a:solidFill>
            <a:srgbClr val="477CA2"/>
          </a:solidFill>
          <a:ln w="12700">
            <a:solidFill>
              <a:srgbClr val="477CA2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34590" y="2739304"/>
            <a:ext cx="4251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477CA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176k</a:t>
            </a:r>
            <a:endParaRPr lang="en-US" sz="580" dirty="0"/>
          </a:p>
        </p:txBody>
      </p:sp>
      <p:sp>
        <p:nvSpPr>
          <p:cNvPr id="20" name="Text 18"/>
          <p:cNvSpPr/>
          <p:nvPr/>
        </p:nvSpPr>
        <p:spPr>
          <a:xfrm>
            <a:off x="2304288" y="4041648"/>
            <a:ext cx="6172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vec</a:t>
            </a:r>
            <a:endParaRPr lang="en-US" sz="680" dirty="0"/>
          </a:p>
        </p:txBody>
      </p:sp>
      <p:sp>
        <p:nvSpPr>
          <p:cNvPr id="21" name="Shape 19"/>
          <p:cNvSpPr/>
          <p:nvPr/>
        </p:nvSpPr>
        <p:spPr>
          <a:xfrm>
            <a:off x="3140964" y="3003340"/>
            <a:ext cx="315468" cy="855428"/>
          </a:xfrm>
          <a:prstGeom prst="rect">
            <a:avLst/>
          </a:prstGeom>
          <a:solidFill>
            <a:srgbClr val="E3863A"/>
          </a:solidFill>
          <a:ln w="12700">
            <a:solidFill>
              <a:srgbClr val="E3863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20390" y="2674156"/>
            <a:ext cx="4251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E386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190k</a:t>
            </a:r>
            <a:endParaRPr lang="en-US" sz="580" dirty="0"/>
          </a:p>
        </p:txBody>
      </p:sp>
      <p:sp>
        <p:nvSpPr>
          <p:cNvPr id="23" name="Text 21"/>
          <p:cNvSpPr/>
          <p:nvPr/>
        </p:nvSpPr>
        <p:spPr>
          <a:xfrm>
            <a:off x="2990088" y="4041648"/>
            <a:ext cx="6172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grid</a:t>
            </a:r>
            <a:endParaRPr lang="en-US" sz="680" dirty="0"/>
          </a:p>
        </p:txBody>
      </p:sp>
      <p:sp>
        <p:nvSpPr>
          <p:cNvPr id="24" name="Shape 22"/>
          <p:cNvSpPr/>
          <p:nvPr/>
        </p:nvSpPr>
        <p:spPr>
          <a:xfrm>
            <a:off x="932688" y="3895344"/>
            <a:ext cx="2743200" cy="0"/>
          </a:xfrm>
          <a:prstGeom prst="line">
            <a:avLst/>
          </a:prstGeom>
          <a:noFill/>
          <a:ln w="7620">
            <a:solidFill>
              <a:srgbClr val="B9CBD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48056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Tree 在真实维护路径上最稳。</a:t>
            </a:r>
            <a:endParaRPr lang="en-US" sz="810" dirty="0"/>
          </a:p>
        </p:txBody>
      </p:sp>
      <p:sp>
        <p:nvSpPr>
          <p:cNvPr id="26" name="Shape 24"/>
          <p:cNvSpPr/>
          <p:nvPr/>
        </p:nvSpPr>
        <p:spPr>
          <a:xfrm>
            <a:off x="4370832" y="1828800"/>
            <a:ext cx="3456432" cy="3090672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26864" y="2084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查询延迟 q1000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796028" y="2963555"/>
            <a:ext cx="315468" cy="895213"/>
          </a:xfrm>
          <a:prstGeom prst="rect">
            <a:avLst/>
          </a:prstGeom>
          <a:solidFill>
            <a:srgbClr val="8A9AAA"/>
          </a:solidFill>
          <a:ln w="12700">
            <a:solidFill>
              <a:srgbClr val="8A9AAA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75454" y="2634371"/>
            <a:ext cx="4251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8A9AA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5354</a:t>
            </a:r>
            <a:endParaRPr lang="en-US" sz="580" dirty="0"/>
          </a:p>
        </p:txBody>
      </p:sp>
      <p:sp>
        <p:nvSpPr>
          <p:cNvPr id="30" name="Text 28"/>
          <p:cNvSpPr/>
          <p:nvPr/>
        </p:nvSpPr>
        <p:spPr>
          <a:xfrm>
            <a:off x="4645152" y="4041648"/>
            <a:ext cx="6172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base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5481828" y="3423200"/>
            <a:ext cx="315468" cy="435568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1254" y="3094016"/>
            <a:ext cx="4251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2605</a:t>
            </a:r>
            <a:endParaRPr lang="en-US" sz="580" dirty="0"/>
          </a:p>
        </p:txBody>
      </p:sp>
      <p:sp>
        <p:nvSpPr>
          <p:cNvPr id="33" name="Text 31"/>
          <p:cNvSpPr/>
          <p:nvPr/>
        </p:nvSpPr>
        <p:spPr>
          <a:xfrm>
            <a:off x="5330952" y="4041648"/>
            <a:ext cx="6172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tree</a:t>
            </a:r>
            <a:endParaRPr lang="en-US" sz="680" dirty="0"/>
          </a:p>
        </p:txBody>
      </p:sp>
      <p:sp>
        <p:nvSpPr>
          <p:cNvPr id="34" name="Shape 32"/>
          <p:cNvSpPr/>
          <p:nvPr/>
        </p:nvSpPr>
        <p:spPr>
          <a:xfrm>
            <a:off x="6167628" y="3641569"/>
            <a:ext cx="315468" cy="217199"/>
          </a:xfrm>
          <a:prstGeom prst="rect">
            <a:avLst/>
          </a:prstGeom>
          <a:solidFill>
            <a:srgbClr val="477CA2"/>
          </a:solidFill>
          <a:ln w="12700">
            <a:solidFill>
              <a:srgbClr val="477CA2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47054" y="3312385"/>
            <a:ext cx="4251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477CA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1299</a:t>
            </a:r>
            <a:endParaRPr lang="en-US" sz="580" dirty="0"/>
          </a:p>
        </p:txBody>
      </p:sp>
      <p:sp>
        <p:nvSpPr>
          <p:cNvPr id="36" name="Text 34"/>
          <p:cNvSpPr/>
          <p:nvPr/>
        </p:nvSpPr>
        <p:spPr>
          <a:xfrm>
            <a:off x="6016752" y="4041648"/>
            <a:ext cx="6172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vec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6853428" y="2813907"/>
            <a:ext cx="315468" cy="1044861"/>
          </a:xfrm>
          <a:prstGeom prst="rect">
            <a:avLst/>
          </a:prstGeom>
          <a:solidFill>
            <a:srgbClr val="E3863A"/>
          </a:solidFill>
          <a:ln w="12700">
            <a:solidFill>
              <a:srgbClr val="E3863A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32854" y="2578608"/>
            <a:ext cx="4251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E386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6249</a:t>
            </a:r>
            <a:endParaRPr lang="en-US" sz="580" dirty="0"/>
          </a:p>
        </p:txBody>
      </p:sp>
      <p:sp>
        <p:nvSpPr>
          <p:cNvPr id="39" name="Text 37"/>
          <p:cNvSpPr/>
          <p:nvPr/>
        </p:nvSpPr>
        <p:spPr>
          <a:xfrm>
            <a:off x="6702552" y="4041648"/>
            <a:ext cx="6172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grid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4645152" y="3895344"/>
            <a:ext cx="2743200" cy="0"/>
          </a:xfrm>
          <a:prstGeom prst="line">
            <a:avLst/>
          </a:prstGeom>
          <a:noFill/>
          <a:ln w="7620">
            <a:solidFill>
              <a:srgbClr val="B9CB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26864" y="448056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Vec 的连续扫描优势最明显。</a:t>
            </a:r>
            <a:endParaRPr lang="en-US" sz="810" dirty="0"/>
          </a:p>
        </p:txBody>
      </p:sp>
      <p:sp>
        <p:nvSpPr>
          <p:cNvPr id="42" name="Shape 40"/>
          <p:cNvSpPr/>
          <p:nvPr/>
        </p:nvSpPr>
        <p:spPr>
          <a:xfrm>
            <a:off x="8083296" y="1828800"/>
            <a:ext cx="3456432" cy="3090672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39328" y="2084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Peak RSS MB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8508492" y="3581588"/>
            <a:ext cx="315468" cy="277180"/>
          </a:xfrm>
          <a:prstGeom prst="rect">
            <a:avLst/>
          </a:prstGeom>
          <a:solidFill>
            <a:srgbClr val="8A9AAA"/>
          </a:solidFill>
          <a:ln w="12700">
            <a:solidFill>
              <a:srgbClr val="8A9AAA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87918" y="3252404"/>
            <a:ext cx="4251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8A9AA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52</a:t>
            </a:r>
            <a:endParaRPr lang="en-US" sz="580" dirty="0"/>
          </a:p>
        </p:txBody>
      </p:sp>
      <p:sp>
        <p:nvSpPr>
          <p:cNvPr id="46" name="Text 44"/>
          <p:cNvSpPr/>
          <p:nvPr/>
        </p:nvSpPr>
        <p:spPr>
          <a:xfrm>
            <a:off x="8357616" y="4041648"/>
            <a:ext cx="6172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base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9194292" y="3685863"/>
            <a:ext cx="315468" cy="172905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73718" y="3356679"/>
            <a:ext cx="4251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33</a:t>
            </a:r>
            <a:endParaRPr lang="en-US" sz="580" dirty="0"/>
          </a:p>
        </p:txBody>
      </p:sp>
      <p:sp>
        <p:nvSpPr>
          <p:cNvPr id="49" name="Text 47"/>
          <p:cNvSpPr/>
          <p:nvPr/>
        </p:nvSpPr>
        <p:spPr>
          <a:xfrm>
            <a:off x="9043416" y="4041648"/>
            <a:ext cx="6172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tree</a:t>
            </a:r>
            <a:endParaRPr lang="en-US" sz="680" dirty="0"/>
          </a:p>
        </p:txBody>
      </p:sp>
      <p:sp>
        <p:nvSpPr>
          <p:cNvPr id="50" name="Shape 48"/>
          <p:cNvSpPr/>
          <p:nvPr/>
        </p:nvSpPr>
        <p:spPr>
          <a:xfrm>
            <a:off x="9880092" y="3695972"/>
            <a:ext cx="315468" cy="162796"/>
          </a:xfrm>
          <a:prstGeom prst="rect">
            <a:avLst/>
          </a:prstGeom>
          <a:solidFill>
            <a:srgbClr val="477CA2"/>
          </a:solidFill>
          <a:ln w="12700">
            <a:solidFill>
              <a:srgbClr val="477CA2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859518" y="3366788"/>
            <a:ext cx="4251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477CA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31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9729216" y="4041648"/>
            <a:ext cx="6172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vec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10565892" y="2762818"/>
            <a:ext cx="315468" cy="1095950"/>
          </a:xfrm>
          <a:prstGeom prst="rect">
            <a:avLst/>
          </a:prstGeom>
          <a:solidFill>
            <a:srgbClr val="E3863A"/>
          </a:solidFill>
          <a:ln w="12700">
            <a:solidFill>
              <a:srgbClr val="E3863A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545318" y="2578608"/>
            <a:ext cx="4251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E386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206</a:t>
            </a:r>
            <a:endParaRPr lang="en-US" sz="580" dirty="0"/>
          </a:p>
        </p:txBody>
      </p:sp>
      <p:sp>
        <p:nvSpPr>
          <p:cNvPr id="55" name="Text 53"/>
          <p:cNvSpPr/>
          <p:nvPr/>
        </p:nvSpPr>
        <p:spPr>
          <a:xfrm>
            <a:off x="10415016" y="4041648"/>
            <a:ext cx="6172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grid</a:t>
            </a:r>
            <a:endParaRPr lang="en-US" sz="680" dirty="0"/>
          </a:p>
        </p:txBody>
      </p:sp>
      <p:sp>
        <p:nvSpPr>
          <p:cNvPr id="56" name="Shape 54"/>
          <p:cNvSpPr/>
          <p:nvPr/>
        </p:nvSpPr>
        <p:spPr>
          <a:xfrm>
            <a:off x="8357616" y="3895344"/>
            <a:ext cx="2743200" cy="0"/>
          </a:xfrm>
          <a:prstGeom prst="line">
            <a:avLst/>
          </a:prstGeom>
          <a:noFill/>
          <a:ln w="7620">
            <a:solidFill>
              <a:srgbClr val="B9CBD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339328" y="448056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Grid 的 page 预留导致空间放大。</a:t>
            </a:r>
            <a:endParaRPr lang="en-US" sz="810" dirty="0"/>
          </a:p>
        </p:txBody>
      </p:sp>
      <p:sp>
        <p:nvSpPr>
          <p:cNvPr id="58" name="Shape 56"/>
          <p:cNvSpPr/>
          <p:nvPr/>
        </p:nvSpPr>
        <p:spPr>
          <a:xfrm>
            <a:off x="1005840" y="5321808"/>
            <a:ext cx="10149840" cy="566928"/>
          </a:xfrm>
          <a:prstGeom prst="rect">
            <a:avLst/>
          </a:prstGeom>
          <a:solidFill>
            <a:srgbClr val="DDE8EF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225296" y="5504688"/>
            <a:ext cx="9710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工程结论：Tree 做实时维护主路径，Vec 做查询/因子辅助，Grid 保留为 dense/deep 场景研究候选。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EE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3"/>
          </a:solidFill>
          <a:ln w="12700">
            <a:solidFill>
              <a:srgbClr val="E8EEF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1298448" y="466344"/>
            <a:ext cx="603504" cy="0"/>
          </a:xfrm>
          <a:prstGeom prst="line">
            <a:avLst/>
          </a:prstGeom>
          <a:noFill/>
          <a:ln w="13970">
            <a:solidFill>
              <a:srgbClr val="279C9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713232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工程落地验证：接入真实系统路径，但保持 opt-in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76656" y="122529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研究结构已开始进入 DataEngine/cache/backtest 链路；当前定位是离线验证，不宣称 production-ready。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6437376"/>
            <a:ext cx="10881360" cy="0"/>
          </a:xfrm>
          <a:prstGeom prst="line">
            <a:avLst/>
          </a:prstGeom>
          <a:noFill/>
          <a:ln w="7620">
            <a:solidFill>
              <a:srgbClr val="B9CB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6537960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 Specialized Order Book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11027664" y="6501384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41248" y="1956816"/>
            <a:ext cx="10561320" cy="129844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56" y="2249424"/>
            <a:ext cx="1737360" cy="585216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33856" y="2249424"/>
            <a:ext cx="1737360" cy="91440"/>
          </a:xfrm>
          <a:prstGeom prst="rect">
            <a:avLst/>
          </a:prstGeom>
          <a:solidFill>
            <a:srgbClr val="477CA2"/>
          </a:solidFill>
          <a:ln w="12700">
            <a:solidFill>
              <a:srgbClr val="477CA2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16736" y="2468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OrderBook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16736" y="2816352"/>
            <a:ext cx="1371600" cy="-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Rust / Python API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3529584" y="2249424"/>
            <a:ext cx="1737360" cy="585216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9584" y="2249424"/>
            <a:ext cx="1737360" cy="91440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12464" y="2468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DataEngine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12464" y="2816352"/>
            <a:ext cx="1371600" cy="-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数据流接入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925312" y="2249424"/>
            <a:ext cx="1737360" cy="585216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25312" y="2249424"/>
            <a:ext cx="1737360" cy="91440"/>
          </a:xfrm>
          <a:prstGeom prst="rect">
            <a:avLst/>
          </a:prstGeom>
          <a:solidFill>
            <a:srgbClr val="477CA2"/>
          </a:solidFill>
          <a:ln w="12700">
            <a:solidFill>
              <a:srgbClr val="477CA2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08192" y="2468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cache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08192" y="2816352"/>
            <a:ext cx="1371600" cy="-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本地状态维护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8321040" y="2249424"/>
            <a:ext cx="1737360" cy="585216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21040" y="2249424"/>
            <a:ext cx="1737360" cy="91440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0" y="2468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backtest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03920" y="2816352"/>
            <a:ext cx="1371600" cy="-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离线撮合验证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944368" y="2542032"/>
            <a:ext cx="512064" cy="0"/>
          </a:xfrm>
          <a:prstGeom prst="line">
            <a:avLst/>
          </a:prstGeom>
          <a:noFill/>
          <a:ln w="15240">
            <a:solidFill>
              <a:srgbClr val="B9CBD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340096" y="2542032"/>
            <a:ext cx="512064" cy="0"/>
          </a:xfrm>
          <a:prstGeom prst="line">
            <a:avLst/>
          </a:prstGeom>
          <a:noFill/>
          <a:ln w="15240">
            <a:solidFill>
              <a:srgbClr val="B9CBD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735824" y="2542032"/>
            <a:ext cx="512064" cy="0"/>
          </a:xfrm>
          <a:prstGeom prst="line">
            <a:avLst/>
          </a:prstGeom>
          <a:noFill/>
          <a:ln w="15240">
            <a:solidFill>
              <a:srgbClr val="B9CBD7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24128" y="4041648"/>
            <a:ext cx="2743200" cy="932688"/>
          </a:xfrm>
          <a:prstGeom prst="rect">
            <a:avLst/>
          </a:prstGeom>
          <a:solidFill>
            <a:srgbClr val="DDF1EE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98448" y="43159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Rust e2e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298448" y="46817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DataEngine/cache 路径验证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4718304" y="4041648"/>
            <a:ext cx="2743200" cy="932688"/>
          </a:xfrm>
          <a:prstGeom prst="rect">
            <a:avLst/>
          </a:prstGeom>
          <a:solidFill>
            <a:srgbClr val="DDF1EE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92624" y="43159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Python e2e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992624" y="46817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Python DataEngine 用户侧路径</a:t>
            </a:r>
            <a:endParaRPr lang="en-US" sz="840" dirty="0"/>
          </a:p>
        </p:txBody>
      </p:sp>
      <p:sp>
        <p:nvSpPr>
          <p:cNvPr id="36" name="Shape 34"/>
          <p:cNvSpPr/>
          <p:nvPr/>
        </p:nvSpPr>
        <p:spPr>
          <a:xfrm>
            <a:off x="8412480" y="4041648"/>
            <a:ext cx="2743200" cy="932688"/>
          </a:xfrm>
          <a:prstGeom prst="rect">
            <a:avLst/>
          </a:prstGeom>
          <a:solidFill>
            <a:srgbClr val="FBE8D5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86800" y="43159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386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边界声明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686800" y="46817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不展示实盘收益，不宣称默认上线</a:t>
            </a:r>
            <a:endParaRPr lang="en-US" sz="8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EE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3"/>
          </a:solidFill>
          <a:ln w="12700">
            <a:solidFill>
              <a:srgbClr val="E8EEF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1298448" y="466344"/>
            <a:ext cx="603504" cy="0"/>
          </a:xfrm>
          <a:prstGeom prst="line">
            <a:avLst/>
          </a:prstGeom>
          <a:noFill/>
          <a:ln w="13970">
            <a:solidFill>
              <a:srgbClr val="279C9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713232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总结与展望：从单点跑分到结构边界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76656" y="122529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贡献不是证明某个容器永远最快，而是建立统一比较框架并识别 L2 专用结构的适用边界。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6437376"/>
            <a:ext cx="10881360" cy="0"/>
          </a:xfrm>
          <a:prstGeom prst="line">
            <a:avLst/>
          </a:prstGeom>
          <a:noFill/>
          <a:ln w="7620">
            <a:solidFill>
              <a:srgbClr val="B9CB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6537960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L2 Specialized Order Book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11027664" y="6501384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41248" y="1865376"/>
            <a:ext cx="3163824" cy="120700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1865376"/>
            <a:ext cx="73152" cy="1207008"/>
          </a:xfrm>
          <a:prstGeom prst="rect">
            <a:avLst/>
          </a:prstGeom>
          <a:solidFill>
            <a:srgbClr val="279C95"/>
          </a:solidFill>
          <a:ln w="12700">
            <a:solidFill>
              <a:srgbClr val="279C95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011680"/>
            <a:ext cx="2816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Tree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1060704" y="2249424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6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默认工程候选</a:t>
            </a:r>
            <a:endParaRPr lang="en-US" sz="1860" dirty="0"/>
          </a:p>
        </p:txBody>
      </p:sp>
      <p:sp>
        <p:nvSpPr>
          <p:cNvPr id="14" name="Text 12"/>
          <p:cNvSpPr/>
          <p:nvPr/>
        </p:nvSpPr>
        <p:spPr>
          <a:xfrm>
            <a:off x="1060704" y="2734056"/>
            <a:ext cx="2816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吞吐与内存都稳定改善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4517136" y="1865376"/>
            <a:ext cx="3163824" cy="120700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17136" y="1865376"/>
            <a:ext cx="73152" cy="1207008"/>
          </a:xfrm>
          <a:prstGeom prst="rect">
            <a:avLst/>
          </a:prstGeom>
          <a:solidFill>
            <a:srgbClr val="477CA2"/>
          </a:solidFill>
          <a:ln w="12700">
            <a:solidFill>
              <a:srgbClr val="477CA2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36592" y="2011680"/>
            <a:ext cx="2816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Vec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4736592" y="2249424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60" b="1" dirty="0">
                <a:solidFill>
                  <a:srgbClr val="477CA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查询/因子结构</a:t>
            </a:r>
            <a:endParaRPr lang="en-US" sz="1860" dirty="0"/>
          </a:p>
        </p:txBody>
      </p:sp>
      <p:sp>
        <p:nvSpPr>
          <p:cNvPr id="19" name="Text 17"/>
          <p:cNvSpPr/>
          <p:nvPr/>
        </p:nvSpPr>
        <p:spPr>
          <a:xfrm>
            <a:off x="4736592" y="2734056"/>
            <a:ext cx="2816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top-k 查询和内存最有优势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8193024" y="1865376"/>
            <a:ext cx="3163824" cy="120700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93024" y="1865376"/>
            <a:ext cx="73152" cy="1207008"/>
          </a:xfrm>
          <a:prstGeom prst="rect">
            <a:avLst/>
          </a:prstGeom>
          <a:solidFill>
            <a:srgbClr val="E3863A"/>
          </a:solidFill>
          <a:ln w="12700">
            <a:solidFill>
              <a:srgbClr val="E3863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2011680"/>
            <a:ext cx="2816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536B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Grid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8412480" y="2249424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60" b="1" dirty="0">
                <a:solidFill>
                  <a:srgbClr val="E386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条件型探索</a:t>
            </a:r>
            <a:endParaRPr lang="en-US" sz="1860" dirty="0"/>
          </a:p>
        </p:txBody>
      </p:sp>
      <p:sp>
        <p:nvSpPr>
          <p:cNvPr id="24" name="Text 22"/>
          <p:cNvSpPr/>
          <p:nvPr/>
        </p:nvSpPr>
        <p:spPr>
          <a:xfrm>
            <a:off x="8412480" y="2734056"/>
            <a:ext cx="2816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dense/deep 场景继续研究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987552" y="4261104"/>
            <a:ext cx="4663440" cy="1024128"/>
          </a:xfrm>
          <a:prstGeom prst="rect">
            <a:avLst/>
          </a:prstGeom>
          <a:solidFill>
            <a:srgbClr val="F8FAFC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80160" y="449884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79C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ANSWER</a:t>
            </a:r>
            <a:endParaRPr lang="en-US" sz="740" dirty="0"/>
          </a:p>
        </p:txBody>
      </p:sp>
      <p:sp>
        <p:nvSpPr>
          <p:cNvPr id="27" name="Text 25"/>
          <p:cNvSpPr/>
          <p:nvPr/>
        </p:nvSpPr>
        <p:spPr>
          <a:xfrm>
            <a:off x="1280160" y="47731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本文回答了什么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80160" y="5102352"/>
            <a:ext cx="40416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baseline 的 overhead、每种结构的预期收益、真实 replay 是否支持这些判断。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6547104" y="4261104"/>
            <a:ext cx="4663440" cy="1024128"/>
          </a:xfrm>
          <a:prstGeom prst="rect">
            <a:avLst/>
          </a:prstGeom>
          <a:solidFill>
            <a:srgbClr val="DDE8EF"/>
          </a:solidFill>
          <a:ln w="8890">
            <a:solidFill>
              <a:srgbClr val="B9CBD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39712" y="449884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77CA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NEXT</a:t>
            </a:r>
            <a:endParaRPr lang="en-US" sz="740" dirty="0"/>
          </a:p>
        </p:txBody>
      </p:sp>
      <p:sp>
        <p:nvSpPr>
          <p:cNvPr id="31" name="Text 29"/>
          <p:cNvSpPr/>
          <p:nvPr/>
        </p:nvSpPr>
        <p:spPr>
          <a:xfrm>
            <a:off x="6839712" y="47731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30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后续工作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839712" y="5102352"/>
            <a:ext cx="40416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172D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扩大数据集、继续生产化 Tree、优化 Vec/Grid 条件场景、完善 live 前验证。</a:t>
            </a:r>
            <a:endParaRPr lang="en-US" sz="8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中央财经大学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面向低延迟场景的 L2 本地订单簿优化</dc:title>
  <dc:subject>L2 本地订单簿特化结构优化最终答辩</dc:subject>
  <dc:creator>陈宝文</dc:creator>
  <cp:lastModifiedBy>陈宝文</cp:lastModifiedBy>
  <cp:revision>1</cp:revision>
  <dcterms:created xsi:type="dcterms:W3CDTF">2026-05-12T06:19:32Z</dcterms:created>
  <dcterms:modified xsi:type="dcterms:W3CDTF">2026-05-12T06:19:32Z</dcterms:modified>
</cp:coreProperties>
</file>